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CC4C9"/>
                </a:solidFill>
                <a:latin typeface="Calibri"/>
              </a:rPr>
              <a:t>Village NetAcad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Mobile Prototype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2CC4C9"/>
                </a:solidFill>
                <a:latin typeface="Calibri"/>
              </a:rPr>
              <a:t>powered by DIGITITAN  ·  Monday stakeholder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Purpose: explain what the system does, how it works,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what happens when someone does X, who sees it on the other end,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and why decisions were made — then collect comments.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CC4C9"/>
                </a:solidFill>
                <a:latin typeface="Calibri"/>
              </a:rPr>
              <a:t>Demo password: demo123   ·   Email OTP: 123456   ·   Payment OTP: 654321   ·   Fast code: VNA-B-LERATO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CC4C9"/>
                </a:solidFill>
                <a:latin typeface="Calibri"/>
              </a:rPr>
              <a:t>Present one role at a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5213B"/>
                </a:solidFill>
                <a:latin typeface="Calibri"/>
              </a:rPr>
              <a:t>•  Frame: what this is / isn’t, two sources of truth, money model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5213B"/>
                </a:solidFill>
                <a:latin typeface="Calibri"/>
              </a:rPr>
              <a:t>•  Login &amp; role routing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5213B"/>
                </a:solidFill>
                <a:latin typeface="Calibri"/>
              </a:rPr>
              <a:t>•  Customer — Training · Academies · Store (full journey)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5213B"/>
                </a:solidFill>
                <a:latin typeface="Calibri"/>
              </a:rPr>
              <a:t>•  Reseller — code, clients, sales, month-end withdraw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5213B"/>
                </a:solidFill>
                <a:latin typeface="Calibri"/>
              </a:rPr>
              <a:t>•  Ops Admin — orders, approve B/C codes, products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5213B"/>
                </a:solidFill>
                <a:latin typeface="Calibri"/>
              </a:rPr>
              <a:t>•  Super Admin — payouts + activity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5213B"/>
                </a:solidFill>
                <a:latin typeface="Calibri"/>
              </a:rPr>
              <a:t>•  Out of scope + pre-flight + comments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0) What you are seeing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CC4C9"/>
                </a:solidFill>
                <a:latin typeface="Calibri"/>
              </a:rPr>
              <a:t>Working Flutter prototype — not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5213B"/>
                </a:solidFill>
                <a:latin typeface="Calibri"/>
              </a:rPr>
              <a:t>•  Three customer pillars: Training · Academies · Store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5213B"/>
                </a:solidFill>
                <a:latin typeface="Calibri"/>
              </a:rPr>
              <a:t>•  Reseller: apply → approve → code → sale → month-end withdraw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5213B"/>
                </a:solidFill>
                <a:latin typeface="Calibri"/>
              </a:rPr>
              <a:t>•  Ops day-to-day + Super money-out oversight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5213B"/>
                </a:solidFill>
                <a:latin typeface="Calibri"/>
              </a:rPr>
              <a:t>•  Shared DemoHub — journeys connect in one app run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371600"/>
            <a:ext cx="5029200" cy="41148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325C"/>
                </a:solidFill>
                <a:latin typeface="Calibri"/>
              </a:rPr>
              <a:t>Say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0116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If a Customer checks out with a reseller code, the Reseller’s Sales and balance update, and Ops sees the order — same session.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15213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3418A"/>
                </a:solidFill>
                <a:latin typeface="Calibri"/>
              </a:rPr>
              <a:t>That proves connected journeys — not three separate fake screens.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Two sources of truth (say this or comments get messy)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00" cy="420624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325C"/>
                </a:solidFill>
                <a:latin typeface="Calibri"/>
              </a:rPr>
              <a:t>1. Live website (React + PHP)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5213B"/>
                </a:solidFill>
                <a:latin typeface="Calibri"/>
              </a:rPr>
              <a:t>•  Full shop + PayFast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5213B"/>
                </a:solidFill>
                <a:latin typeface="Calibri"/>
              </a:rPr>
              <a:t>•  ~10% commission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5213B"/>
                </a:solidFill>
                <a:latin typeface="Calibri"/>
              </a:rPr>
              <a:t>•  One Admin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5213B"/>
                </a:solidFill>
                <a:latin typeface="Calibri"/>
              </a:rPr>
              <a:t>•  Donations in product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5213B"/>
                </a:solidFill>
                <a:latin typeface="Calibri"/>
              </a:rPr>
              <a:t>•  Studied for understanding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3418A"/>
                </a:solidFill>
                <a:latin typeface="Calibri"/>
              </a:rPr>
              <a:t>•  NOT fully cloned in Phase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486400" cy="420624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CC4C9"/>
                </a:solidFill>
                <a:latin typeface="Calibri"/>
              </a:rPr>
              <a:t>2. Locked mobile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8600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 Samples in-app + shop on website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 53% / 26% / 21% split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 B vs C codes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 Ops + Super dual admin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 Donations out of mobile V1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2CC4C9"/>
                </a:solidFill>
                <a:latin typeface="Calibri"/>
              </a:rPr>
              <a:t>•  THIS is what Phase 1 implements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Shared money model (draw once)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CC4C9"/>
                </a:solidFill>
                <a:latin typeface="Calibri"/>
              </a:rPr>
              <a:t>Attributed sale = customer used a valid reseller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417320"/>
            <a:ext cx="5760720" cy="8229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60020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Customer pays for attributed sale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3200400" cy="2194560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53%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Beneficiary seller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CC4C9"/>
                </a:solidFill>
                <a:latin typeface="Calibri"/>
              </a:rPr>
              <a:t>VNA-B-*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560320"/>
            <a:ext cx="3200400" cy="2194560"/>
          </a:xfrm>
          <a:prstGeom prst="rect">
            <a:avLst/>
          </a:prstGeom>
          <a:solidFill>
            <a:srgbClr val="13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743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26%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4747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Centre slice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CC4C9"/>
                </a:solidFill>
                <a:latin typeface="Calibri"/>
              </a:rPr>
              <a:t>VNA-C-* seller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2560320"/>
            <a:ext cx="3200400" cy="2194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7432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21%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4747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Digititan / VNA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CC4C9"/>
                </a:solidFill>
                <a:latin typeface="Calibri"/>
              </a:rPr>
              <a:t>programme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Reseller UI: only money due to them (53% if B, 26% if C) — not full total or Digititan 21%.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Withdraw: last calendar day → Super must approve. Bank auto-debit = not V1.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1)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CC4C9"/>
                </a:solidFill>
                <a:latin typeface="Calibri"/>
              </a:rPr>
              <a:t>Everyone starts here — role decides the shell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Village NetAcad  ·  powered by DIGITITAN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Login — what you see &amp;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325C"/>
                </a:solidFill>
                <a:latin typeface="Calibri"/>
              </a:rPr>
              <a:t>What you 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Village NetAcad logo + Powered by DIGITITAN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Email + Password + Sign in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Google (stub)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Create account / apply as reseller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Collapsed Demo login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4325C"/>
                </a:solidFill>
                <a:latin typeface="Calibri"/>
              </a:rPr>
              <a:t>Why this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First screen signals seriousness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Manual login shows real role routing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Demo cheat sheet collapsed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206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5213B"/>
                </a:solidFill>
                <a:latin typeface="Calibri"/>
              </a:rPr>
              <a:t>Wrong password → red error. Google stub → always demo Customer. Logout → Login (DemoHub keeps data until app kill).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After login — role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CC4C9"/>
                </a:solidFill>
                <a:latin typeface="Calibri"/>
              </a:rPr>
              <a:t>Same password for all: demo123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50292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Lands 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74519"/>
            <a:ext cx="11247120" cy="6400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11679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customer@demo.com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79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3418A"/>
                </a:solidFill>
                <a:latin typeface="Calibri"/>
              </a:rPr>
              <a:t>Customer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011679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5213B"/>
                </a:solidFill>
                <a:latin typeface="Calibri"/>
              </a:rPr>
              <a:t>Home · Training · Academies · Store · Profile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11247120" cy="64008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51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reseller@demo.com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51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3418A"/>
                </a:solidFill>
                <a:latin typeface="Calibri"/>
              </a:rPr>
              <a:t>Reseller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6517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5213B"/>
                </a:solidFill>
                <a:latin typeface="Calibri"/>
              </a:rPr>
              <a:t>Dashboard · Clients · Sales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54680"/>
            <a:ext cx="11247120" cy="6400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918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ops@demo.com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291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3418A"/>
                </a:solidFill>
                <a:latin typeface="Calibri"/>
              </a:rPr>
              <a:t>Ops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2918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5213B"/>
                </a:solidFill>
                <a:latin typeface="Calibri"/>
              </a:rPr>
              <a:t>Dashboard · Orders · Resellers · Codes · Products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94760"/>
            <a:ext cx="11247120" cy="64008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319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super@demo.com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931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3418A"/>
                </a:solidFill>
                <a:latin typeface="Calibri"/>
              </a:rPr>
              <a:t>Super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931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5213B"/>
                </a:solidFill>
                <a:latin typeface="Calibri"/>
              </a:rPr>
              <a:t>Everything Ops has + Payouts + Activity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4325C"/>
                </a:solidFill>
                <a:latin typeface="Calibri"/>
              </a:rPr>
              <a:t>Note: admin@demo.com is a legacy alias for Ops.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2)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CC4C9"/>
                </a:solidFill>
                <a:latin typeface="Calibri"/>
              </a:rPr>
              <a:t>customer@demo.com / demo123  ·  Training · Academies ·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Village NetAcad  ·  powered by DIGITITAN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Customer — who they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CC4C9"/>
                </a:solidFill>
                <a:latin typeface="Calibri"/>
              </a:rPr>
              <a:t>Entry into the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3418A"/>
                </a:solidFill>
                <a:latin typeface="Calibri"/>
              </a:rPr>
              <a:t>Say: “Customer experiences the three pillars — Training, Academies, Store.”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566160" cy="329184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3566160" cy="548640"/>
          </a:xfrm>
          <a:prstGeom prst="rect">
            <a:avLst/>
          </a:prstGeom>
          <a:solidFill>
            <a:srgbClr val="13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Discover programmes.
Register interest.
Learning = separate LMS.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920240"/>
            <a:ext cx="3566160" cy="329184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3566160" cy="548640"/>
          </a:xfrm>
          <a:prstGeom prst="rect">
            <a:avLst/>
          </a:prstGeom>
          <a:solidFill>
            <a:srgbClr val="13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0116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Academies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6517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SA map by province.
Apply / interest.
NPO / org forms.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920240"/>
            <a:ext cx="3566160" cy="329184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3566160" cy="548640"/>
          </a:xfrm>
          <a:prstGeom prst="rect">
            <a:avLst/>
          </a:prstGeom>
          <a:solidFill>
            <a:srgbClr val="13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20116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65176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Sample catalogue.
Full buy on website.
Demo checkout for codes.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Customer can / cannot (Phase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438912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C9F58"/>
                </a:solidFill>
                <a:latin typeface="Calibri"/>
              </a:rPr>
              <a:t>Can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Browse Home, Training, Academies, Store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Register interest (training / academies / org)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Open live Digititan Store website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Demo cart → checkout → OTP + optional code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See own orders from this session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486400" cy="438912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325C"/>
                </a:solidFill>
                <a:latin typeface="Calibri"/>
              </a:rPr>
              <a:t>Not claiming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Live PayFast inside the app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LMS course delivery in-app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Other people’s orders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Reseller / Ops / Super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2.1 Customer —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CC4C9"/>
                </a:solidFill>
                <a:latin typeface="Calibri"/>
              </a:rPr>
              <a:t>Programme first, then store +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5213B"/>
                </a:solidFill>
                <a:latin typeface="Calibri"/>
              </a:rPr>
              <a:t>•  Hi {FirstName} · programme hero Now recruiting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5213B"/>
                </a:solidFill>
                <a:latin typeface="Calibri"/>
              </a:rPr>
              <a:t>•  Best sellers · Promotions (~~was~~ now) · Featured training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5213B"/>
                </a:solidFill>
                <a:latin typeface="Calibri"/>
              </a:rPr>
              <a:t>•  Programme → Training tab · product → detail · training → detail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5213B"/>
                </a:solidFill>
                <a:latin typeface="Calibri"/>
              </a:rPr>
              <a:t>•  Ops promo change earlier → prices update after reopen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2.2 Customer —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CC4C9"/>
                </a:solidFill>
                <a:latin typeface="Calibri"/>
              </a:rPr>
              <a:t>Locked: information + interest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5213B"/>
                </a:solidFill>
                <a:latin typeface="Calibri"/>
              </a:rPr>
              <a:t>•  Say: “We capture intent here. Learning stays in the LMS.”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5213B"/>
                </a:solidFill>
                <a:latin typeface="Calibri"/>
              </a:rPr>
              <a:t>•  List → detail → Register interest → Thanks dialog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5213B"/>
                </a:solidFill>
                <a:latin typeface="Calibri"/>
              </a:rPr>
              <a:t>•  Lead + Activity log; Super Activity shows the trail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5213B"/>
                </a:solidFill>
                <a:latin typeface="Calibri"/>
              </a:rPr>
              <a:t>•  Cannot start the course in-app — by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2.3 Customer — Academies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CC4C9"/>
                </a:solidFill>
                <a:latin typeface="Calibri"/>
              </a:rPr>
              <a:t>SA map · Active/Inactive · org register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5213B"/>
                </a:solidFill>
                <a:latin typeface="Calibri"/>
              </a:rPr>
              <a:t>•  Map by province + pins/list + Active/Inactive filter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5213B"/>
                </a:solidFill>
                <a:latin typeface="Calibri"/>
              </a:rPr>
              <a:t>•  Active → apply → Application submitted → lead + Activity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5213B"/>
                </a:solidFill>
                <a:latin typeface="Calibri"/>
              </a:rPr>
              <a:t>•  Inactive → registration closed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5213B"/>
                </a:solidFill>
                <a:latin typeface="Calibri"/>
              </a:rPr>
              <a:t>•  Register NPO/Academy → org pending +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2.4 Customer —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CC4C9"/>
                </a:solidFill>
                <a:latin typeface="Calibri"/>
              </a:rPr>
              <a:t>Samples in-app · full shop on website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Locked: sample products only. Full shopping → https://www.shop.digititan.co.za/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CC4C9"/>
                </a:solidFill>
                <a:latin typeface="Calibri"/>
              </a:rPr>
              <a:t>Do not rebuild the entire production shop inside Phase 1 mobile.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5213B"/>
                </a:solidFill>
                <a:latin typeface="Calibri"/>
              </a:rPr>
              <a:t>•  Open Digititan Store → real website (separate from demo hub)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5213B"/>
                </a:solidFill>
                <a:latin typeface="Calibri"/>
              </a:rPr>
              <a:t>•  Promos can show ~~old~~ new; Ops price changes appear after refresh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5213B"/>
                </a:solidFill>
                <a:latin typeface="Calibri"/>
              </a:rPr>
              <a:t>•  Say: “Buy for real on the live shop. Demo checkout proves reseller codes.”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2.5–2.6 Product · Cart · Checkout · OTP ·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CC4C9"/>
                </a:solidFill>
                <a:latin typeface="Calibri"/>
              </a:rPr>
              <a:t>Money-story bridge — walk slowly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Add to demo cart → session cart (not an Ops order yet)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Checkout: referral code + Apply → Pay → OTP 654321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Valid code + OTP → paid order → seller cut to reseller → Ops order + Activity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B-code seller 53% · C-code seller 26% · Centre/Digititan tracked internally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2743200" cy="201168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657600"/>
            <a:ext cx="457200" cy="2011680"/>
          </a:xfrm>
          <a:prstGeom prst="rect">
            <a:avLst/>
          </a:prstGeom>
          <a:solidFill>
            <a:srgbClr val="13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84048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325C"/>
                </a:solidFill>
                <a:latin typeface="Calibri"/>
              </a:rPr>
              <a:t>Cart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5213B"/>
                </a:solidFill>
                <a:latin typeface="Calibri"/>
              </a:rPr>
              <a:t>Lines, qty,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3657600"/>
            <a:ext cx="2743200" cy="201168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3657600"/>
            <a:ext cx="457200" cy="2011680"/>
          </a:xfrm>
          <a:prstGeom prst="rect">
            <a:avLst/>
          </a:prstGeom>
          <a:solidFill>
            <a:srgbClr val="13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40" y="384048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325C"/>
                </a:solidFill>
                <a:latin typeface="Calibri"/>
              </a:rPr>
              <a:t>Checkout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5213B"/>
                </a:solidFill>
                <a:latin typeface="Calibri"/>
              </a:rPr>
              <a:t>Code + Apply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657600"/>
            <a:ext cx="2743200" cy="201168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3657600"/>
            <a:ext cx="457200" cy="2011680"/>
          </a:xfrm>
          <a:prstGeom prst="rect">
            <a:avLst/>
          </a:prstGeom>
          <a:solidFill>
            <a:srgbClr val="13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84048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325C"/>
                </a:solidFill>
                <a:latin typeface="Calibri"/>
              </a:rPr>
              <a:t>OTP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5213B"/>
                </a:solidFill>
                <a:latin typeface="Calibri"/>
              </a:rPr>
              <a:t>654321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3657600"/>
            <a:ext cx="2743200" cy="201168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3657600"/>
            <a:ext cx="457200" cy="2011680"/>
          </a:xfrm>
          <a:prstGeom prst="rect">
            <a:avLst/>
          </a:prstGeom>
          <a:solidFill>
            <a:srgbClr val="13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4297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384048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4325C"/>
                </a:solidFill>
                <a:latin typeface="Calibri"/>
              </a:rPr>
              <a:t>Order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5213B"/>
                </a:solidFill>
                <a:latin typeface="Calibri"/>
              </a:rPr>
              <a:t>Paid + split 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Worked example — say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CC4C9"/>
                </a:solidFill>
                <a:latin typeface="Calibri"/>
              </a:rPr>
              <a:t>Headset R399 · VNA-B-LERATO (Beneficiary)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4572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99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Slice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399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399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Amount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399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Who sees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11430000" cy="6400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5213B"/>
                </a:solidFill>
                <a:latin typeface="Calibri"/>
              </a:rPr>
              <a:t>Seller (Demo Reseller)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9202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18A"/>
                </a:solidFill>
                <a:latin typeface="Calibri"/>
              </a:rPr>
              <a:t>53%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9202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C9F58"/>
                </a:solidFill>
                <a:latin typeface="Calibri"/>
              </a:rPr>
              <a:t>R211.47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9202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5213B"/>
                </a:solidFill>
                <a:latin typeface="Calibri"/>
              </a:rPr>
              <a:t>Reseller balance + Sales +R211.47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23160"/>
            <a:ext cx="11430000" cy="64008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560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5213B"/>
                </a:solidFill>
                <a:latin typeface="Calibri"/>
              </a:rPr>
              <a:t>Centre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5603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18A"/>
                </a:solidFill>
                <a:latin typeface="Calibri"/>
              </a:rPr>
              <a:t>26%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5603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C9F58"/>
                </a:solidFill>
                <a:latin typeface="Calibri"/>
              </a:rPr>
              <a:t>R103.74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560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5213B"/>
                </a:solidFill>
                <a:latin typeface="Calibri"/>
              </a:rPr>
              <a:t>Internal — not on reseller wallet UI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63239"/>
            <a:ext cx="11430000" cy="6400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0039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5213B"/>
                </a:solidFill>
                <a:latin typeface="Calibri"/>
              </a:rPr>
              <a:t>Digititan / VNA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200399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18A"/>
                </a:solidFill>
                <a:latin typeface="Calibri"/>
              </a:rPr>
              <a:t>21%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200399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C9F58"/>
                </a:solidFill>
                <a:latin typeface="Calibri"/>
              </a:rPr>
              <a:t>R83.79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20039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5213B"/>
                </a:solidFill>
                <a:latin typeface="Calibri"/>
              </a:rPr>
              <a:t>Internal — not on reseller screen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03320"/>
            <a:ext cx="11430000" cy="64008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840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5213B"/>
                </a:solidFill>
                <a:latin typeface="Calibri"/>
              </a:rPr>
              <a:t>Customer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38404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18A"/>
                </a:solidFill>
                <a:latin typeface="Calibri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8404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C9F58"/>
                </a:solidFill>
                <a:latin typeface="Calibri"/>
              </a:rPr>
              <a:t>R399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8404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5213B"/>
                </a:solidFill>
                <a:latin typeface="Calibri"/>
              </a:rPr>
              <a:t>Order total / My Orders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Checkout matrix — who sees 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1612880" cy="41148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You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25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25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Reseller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325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Ops / Super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39"/>
            <a:ext cx="11612880" cy="6400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82879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5213B"/>
                </a:solidFill>
                <a:latin typeface="Calibri"/>
              </a:rPr>
              <a:t>Apply valid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82879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5213B"/>
                </a:solidFill>
                <a:latin typeface="Calibri"/>
              </a:rPr>
              <a:t>Applied hint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82879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5213B"/>
                </a:solidFill>
                <a:latin typeface="Calibri"/>
              </a:rPr>
              <a:t>— yet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82879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5213B"/>
                </a:solidFill>
                <a:latin typeface="Calibri"/>
              </a:rP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331720"/>
            <a:ext cx="11612880" cy="64008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46887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5213B"/>
                </a:solidFill>
                <a:latin typeface="Calibri"/>
              </a:rPr>
              <a:t>Invalid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46887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5213B"/>
                </a:solidFill>
                <a:latin typeface="Calibri"/>
              </a:rPr>
              <a:t>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46887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5213B"/>
                </a:solidFill>
                <a:latin typeface="Calibri"/>
              </a:rPr>
              <a:t>nothing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46887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5213B"/>
                </a:solidFill>
                <a:latin typeface="Calibri"/>
              </a:rPr>
              <a:t>nothing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71800"/>
            <a:ext cx="11612880" cy="6400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108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5213B"/>
                </a:solidFill>
                <a:latin typeface="Calibri"/>
              </a:rPr>
              <a:t>Wrong OTP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108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5213B"/>
                </a:solidFill>
                <a:latin typeface="Calibri"/>
              </a:rPr>
              <a:t>No order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108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5213B"/>
                </a:solidFill>
                <a:latin typeface="Calibri"/>
              </a:rPr>
              <a:t>nothing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1089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5213B"/>
                </a:solidFill>
                <a:latin typeface="Calibri"/>
              </a:rPr>
              <a:t>nothing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611880"/>
            <a:ext cx="11612880" cy="64008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7490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5213B"/>
                </a:solidFill>
                <a:latin typeface="Calibri"/>
              </a:rPr>
              <a:t>654321 +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7490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5213B"/>
                </a:solidFill>
                <a:latin typeface="Calibri"/>
              </a:rPr>
              <a:t>Order + attribution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7490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5213B"/>
                </a:solidFill>
                <a:latin typeface="Calibri"/>
              </a:rPr>
              <a:t>Sale + balance 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7490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5213B"/>
                </a:solidFill>
                <a:latin typeface="Calibri"/>
              </a:rPr>
              <a:t>Order + Activity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251960"/>
            <a:ext cx="11612880" cy="6400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389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5213B"/>
                </a:solidFill>
                <a:latin typeface="Calibri"/>
              </a:rPr>
              <a:t>654321, no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389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5213B"/>
                </a:solidFill>
                <a:latin typeface="Calibri"/>
              </a:rPr>
              <a:t>Order, no 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389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5213B"/>
                </a:solidFill>
                <a:latin typeface="Calibri"/>
              </a:rPr>
              <a:t>no commission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4389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5213B"/>
                </a:solidFill>
                <a:latin typeface="Calibri"/>
              </a:rPr>
              <a:t>Order w/o referral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892040"/>
            <a:ext cx="11612880" cy="64008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029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5213B"/>
                </a:solidFill>
                <a:latin typeface="Calibri"/>
              </a:rPr>
              <a:t>Cart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5029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5213B"/>
                </a:solidFill>
                <a:latin typeface="Calibri"/>
              </a:rPr>
              <a:t>Cart items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029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5213B"/>
                </a:solidFill>
                <a:latin typeface="Calibri"/>
              </a:rPr>
              <a:t>nothing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5029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5213B"/>
                </a:solidFill>
                <a:latin typeface="Calibri"/>
              </a:rPr>
              <a:t>nothing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Customer live walkthrough (~4–5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438912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1  Login customer@demo.com / demo123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2  Home — programme CTA + promos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3  Training — register interest — LMS separate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4  Academies — province + Active/Inactive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5  Store — samples + website button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6–7  Product → cart → VNA-B-LERATO → OTP 654321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8  My orders → confirm  ·  9 Logout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15213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CC4C9"/>
                </a:solidFill>
                <a:latin typeface="Calibri"/>
              </a:rPr>
              <a:t>Then: “Now we open the same sale from the Reseller side.”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3) RESELLER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CC4C9"/>
                </a:solidFill>
                <a:latin typeface="Calibri"/>
              </a:rPr>
              <a:t>reseller@demo.com / demo123  ·  VNA-B-LERATO  ·  Earns 53%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Village NetAcad  ·  powered by DIGITITAN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Reseller — job &amp; B vs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CC4C9"/>
                </a:solidFill>
                <a:latin typeface="Calibri"/>
              </a:rPr>
              <a:t>Memorise — people will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18A"/>
                </a:solidFill>
                <a:latin typeface="Calibri"/>
              </a:rPr>
              <a:t>Say: “They only see money due to them. They don’t issue codes — Ops does. Month-end needs Super.”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5486400" cy="3474720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VNA-B-*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Individual / beneficiary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Seller earns 53%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486400" cy="3474720"/>
          </a:xfrm>
          <a:prstGeom prst="rect">
            <a:avLst/>
          </a:prstGeom>
          <a:solidFill>
            <a:srgbClr val="13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2860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VNA-C-*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Centre organisation as seller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Seller earns 26%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Critical line — B vs C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325C"/>
                </a:solidFill>
                <a:latin typeface="Calibri"/>
              </a:rPr>
              <a:t>“If Sipho is an individual linked to a centre, he still gets a B code.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4325C"/>
                </a:solidFill>
                <a:latin typeface="Calibri"/>
              </a:rPr>
              <a:t>We do not give him a C code just because of the link.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4325C"/>
                </a:solidFill>
                <a:latin typeface="Calibri"/>
              </a:rPr>
              <a:t>C is when the centre itself is the seller.”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Apply → Pending → Approved · Dashboard · Withdraw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5213B"/>
                </a:solidFill>
                <a:latin typeface="Calibri"/>
              </a:rPr>
              <a:t>•  Register Reseller → OTP 123456 → pending only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5213B"/>
                </a:solidFill>
                <a:latin typeface="Calibri"/>
              </a:rPr>
              <a:t>•  Ops sees pending + count ↑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5213B"/>
                </a:solidFill>
                <a:latin typeface="Calibri"/>
              </a:rPr>
              <a:t>•  Approve + Refresh → code + 3 tabs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5213B"/>
                </a:solidFill>
                <a:latin typeface="Calibri"/>
              </a:rPr>
              <a:t>•  Reject (long-press) → rejected screen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5213B"/>
                </a:solidFill>
                <a:latin typeface="Calibri"/>
              </a:rPr>
              <a:t>•  Dashboard: code, 53%/26% balance, simulate month-end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5213B"/>
                </a:solidFill>
                <a:latin typeface="Calibri"/>
              </a:rPr>
              <a:t>•  Withdraw → balance drops now → Super Payouts row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5213B"/>
                </a:solidFill>
                <a:latin typeface="Calibri"/>
              </a:rPr>
              <a:t>•  Reject payout → money returns; Approve → stays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280160"/>
            <a:ext cx="5303520" cy="4572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5544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CC4C9"/>
                </a:solidFill>
                <a:latin typeface="Calibri"/>
              </a:rPr>
              <a:t>LIVE Reseller (~5–6 min)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15213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After Customer sale: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show code + balance ↑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Sales +R line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Clients bought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Simulate month-end → Withdraw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Logout → Super Payouts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4) OPS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CC4C9"/>
                </a:solidFill>
                <a:latin typeface="Calibri"/>
              </a:rPr>
              <a:t>ops@demo.com / demo123  ·  Day-to-day without waiting for Super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Village NetAcad  ·  powered by DIGITITAN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Ops — does / cannot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438912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C9F58"/>
                </a:solidFill>
                <a:latin typeface="Calibri"/>
              </a:rPr>
              <a:t>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Dashboard metrics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Update order statuses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Approve/reject resellers + B/C codes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View issued codes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•  Products: price, promo was/now, stock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486400" cy="438912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CC4C9"/>
                </a:solidFill>
                <a:latin typeface="Calibri"/>
              </a:rPr>
              <a:t>Cannot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No Payouts tab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No Activity tab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15213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CC4C9"/>
                </a:solidFill>
                <a:latin typeface="Calibri"/>
              </a:rPr>
              <a:t>Why dual admin: Ops moves fast; Super guards money 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Ops — Approve B vs C +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2926080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Beneficiary → VNA-B-*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Individual earns 53%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486400" cy="2926080"/>
          </a:xfrm>
          <a:prstGeom prst="rect">
            <a:avLst/>
          </a:prstGeom>
          <a:solidFill>
            <a:srgbClr val="134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Centre → VNA-C-*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Centre org earns 26%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4325C"/>
                </a:solidFill>
                <a:latin typeface="Calibri"/>
              </a:rPr>
              <a:t>Reject = long-press. Wrong code type = wrong %. Products: Was/Now promo → Customer strikethrough.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LIVE (~2–3 min): metrics → order → explain B/C → promo → “No Payouts — that’s Super.”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5) SUPER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CC4C9"/>
                </a:solidFill>
                <a:latin typeface="Calibri"/>
              </a:rPr>
              <a:t>super@demo.com / demo123  ·  Oversight + money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Village NetAcad  ·  powered by DIGITITAN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Super — Payouts &amp;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41148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4325C"/>
                </a:solidFill>
                <a:latin typeface="Calibri"/>
              </a:rPr>
              <a:t>Payouts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Approve → balance stays reduced (confirmed).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5213B"/>
                </a:solidFill>
                <a:latin typeface="Calibri"/>
              </a:rPr>
              <a:t>Reject → funds returned to reseller.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15213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3418A"/>
                </a:solidFill>
                <a:latin typeface="Calibri"/>
              </a:rPr>
              <a:t>“Reseller asked to withdraw → money reserved → I confirm or return it.”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486400" cy="41148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CC4C9"/>
                </a:solidFill>
                <a:latin typeface="Calibri"/>
              </a:rPr>
              <a:t>Activity +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Log: approvals, sale splits, withdraws, interests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15213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CC4C9"/>
                </a:solidFill>
                <a:latin typeface="Calibri"/>
              </a:rPr>
              <a:t>LIVE (~1–2 min):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Show Payouts + Activity tabs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Approve/reject withdraw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Scroll sale + withdraw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Out of scope (say calmly)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CC4C9"/>
                </a:solidFill>
                <a:latin typeface="Calibri"/>
              </a:rPr>
              <a:t>Backlog by design — today is journeys and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5213B"/>
                </a:solidFill>
                <a:latin typeface="Calibri"/>
              </a:rPr>
              <a:t>•  Real OTP email/SMS · Real Google Sign-In · Real DB/API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5213B"/>
                </a:solidFill>
                <a:latin typeface="Calibri"/>
              </a:rPr>
              <a:t>•  Live PayFast in-app · Bank auto-debit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5213B"/>
                </a:solidFill>
                <a:latin typeface="Calibri"/>
              </a:rPr>
              <a:t>•  Donations / ambassador in mobile · Public store release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5213B"/>
                </a:solidFill>
                <a:latin typeface="Calibri"/>
              </a:rPr>
              <a:t>•  Full website parity (wishlist, reviews, search…)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Pre-flight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5213B"/>
                </a:solidFill>
                <a:latin typeface="Calibri"/>
              </a:rPr>
              <a:t>•  App runs · all four logins work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5213B"/>
                </a:solidFill>
                <a:latin typeface="Calibri"/>
              </a:rPr>
              <a:t>•  Checkout VNA-B-LERATO + OTP 654321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5213B"/>
                </a:solidFill>
                <a:latin typeface="Calibri"/>
              </a:rPr>
              <a:t>•  Reseller sees sale + simulate withdraw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5213B"/>
                </a:solidFill>
                <a:latin typeface="Calibri"/>
              </a:rPr>
              <a:t>•  Super Payouts visible; Ops has no Payouts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5213B"/>
                </a:solidFill>
                <a:latin typeface="Calibri"/>
              </a:rPr>
              <a:t>•  Browser ready: shop.digititan.co.za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371600"/>
            <a:ext cx="4389120" cy="41148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55448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CC4C9"/>
                </a:solidFill>
                <a:latin typeface="Calibri"/>
              </a:rPr>
              <a:t>Accounts (demo123)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15213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customer@demo.com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reseller@demo.com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ops@demo.com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super@demo.com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Ask for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CC4C9"/>
                </a:solidFill>
                <a:latin typeface="Calibri"/>
              </a:rPr>
              <a:t>Write answers 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5213B"/>
                </a:solidFill>
                <a:latin typeface="Calibri"/>
              </a:rPr>
              <a:t>•  Does Customer (Training / Academies / Store) match entry?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5213B"/>
                </a:solidFill>
                <a:latin typeface="Calibri"/>
              </a:rPr>
              <a:t>•  Is apply → approve → code → sale → month-end correct?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5213B"/>
                </a:solidFill>
                <a:latin typeface="Calibri"/>
              </a:rPr>
              <a:t>•  Is 53 / 26 / 21 still the split?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5213B"/>
                </a:solidFill>
                <a:latin typeface="Calibri"/>
              </a:rPr>
              <a:t>•  Any change to Ops vs Super?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5213B"/>
                </a:solidFill>
                <a:latin typeface="Calibri"/>
              </a:rPr>
              <a:t>•  Phase 2: live PHP/PayFast API, or locked mobile rules + sync?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5213B"/>
                </a:solidFill>
                <a:latin typeface="Calibri"/>
              </a:rPr>
              <a:t>•  Next-build priority? What must NOT be in V1?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Village NetAcad  ·  powered by DIGITITAN  ·  Monday prototype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14325C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C9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Thank you — comments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CC4C9"/>
                </a:solidFill>
                <a:latin typeface="Calibri"/>
              </a:rPr>
              <a:t>I’ll capture today’s feedback, update what’s locked vs changed,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CC4C9"/>
                </a:solidFill>
                <a:latin typeface="Calibri"/>
              </a:rPr>
              <a:t>and propose the next build — ideally shared production API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CC4C9"/>
                </a:solidFill>
                <a:latin typeface="Calibri"/>
              </a:rPr>
              <a:t>so website and mobile use the same accounts and carts.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Village NetAcad  ·  powered by DIGITITAN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